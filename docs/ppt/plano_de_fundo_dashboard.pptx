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B701"/>
    <a:srgbClr val="DAA600"/>
    <a:srgbClr val="8073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5" d="100"/>
          <a:sy n="65" d="100"/>
        </p:scale>
        <p:origin x="18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2146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1B2A33">
              <a:alpha val="5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B2A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2A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2A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1B2A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6868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kern="0" spc="8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Dashboard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68680" y="1371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Comercial</a:t>
            </a:r>
            <a:endParaRPr lang="en-US" sz="5400" dirty="0"/>
          </a:p>
        </p:txBody>
      </p:sp>
      <p:sp>
        <p:nvSpPr>
          <p:cNvPr id="10" name="Shape 7"/>
          <p:cNvSpPr/>
          <p:nvPr/>
        </p:nvSpPr>
        <p:spPr>
          <a:xfrm>
            <a:off x="914400" y="2514600"/>
            <a:ext cx="2011680" cy="54864"/>
          </a:xfrm>
          <a:prstGeom prst="rect">
            <a:avLst/>
          </a:prstGeom>
          <a:solidFill>
            <a:srgbClr val="0E807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96112" y="2697479"/>
            <a:ext cx="7315200" cy="640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3DA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dados AdventureWorks2025  •  Power BI</a:t>
            </a:r>
          </a:p>
          <a:p>
            <a:pPr marL="0" indent="0">
              <a:buNone/>
            </a:pPr>
            <a:endParaRPr lang="en-US" sz="1300" dirty="0">
              <a:solidFill>
                <a:srgbClr val="D3DADF"/>
              </a:solidFill>
              <a:latin typeface="Segoe UI" pitchFamily="34" charset="0"/>
              <a:cs typeface="Segoe UI" pitchFamily="34" charset="-120"/>
            </a:endParaRPr>
          </a:p>
        </p:txBody>
      </p:sp>
      <p:sp>
        <p:nvSpPr>
          <p:cNvPr id="19" name="Scrim"/>
          <p:cNvSpPr/>
          <p:nvPr/>
        </p:nvSpPr>
        <p:spPr>
          <a:xfrm>
            <a:off x="-306" y="4818886"/>
            <a:ext cx="12192000" cy="2066399"/>
          </a:xfrm>
          <a:prstGeom prst="rect">
            <a:avLst/>
          </a:prstGeom>
          <a:gradFill>
            <a:gsLst>
              <a:gs pos="0">
                <a:srgbClr val="101B22">
                  <a:alpha val="0"/>
                </a:srgbClr>
              </a:gs>
              <a:gs pos="100000">
                <a:srgbClr val="101B22">
                  <a:alpha val="88000"/>
                </a:srgbClr>
              </a:gs>
            </a:gsLst>
            <a:lin ang="5400000" scaled="0"/>
          </a:gradFill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9527457" y="5852159"/>
            <a:ext cx="1795557" cy="371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3DA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 v e n t u r e W o r k s</a:t>
            </a:r>
            <a:endParaRPr lang="en-US" sz="1100" dirty="0"/>
          </a:p>
        </p:txBody>
      </p:sp>
      <p:sp>
        <p:nvSpPr>
          <p:cNvPr id="20" name="Author Rule"/>
          <p:cNvSpPr/>
          <p:nvPr/>
        </p:nvSpPr>
        <p:spPr>
          <a:xfrm>
            <a:off x="868680" y="5440680"/>
            <a:ext cx="822960" cy="54864"/>
          </a:xfrm>
          <a:prstGeom prst="rect">
            <a:avLst/>
          </a:prstGeom>
          <a:solidFill>
            <a:srgbClr val="0E8074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/>
          </a:p>
        </p:txBody>
      </p:sp>
      <p:sp>
        <p:nvSpPr>
          <p:cNvPr id="21" name="Author Name"/>
          <p:cNvSpPr/>
          <p:nvPr/>
        </p:nvSpPr>
        <p:spPr>
          <a:xfrm>
            <a:off x="780190" y="556456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1250" b="1" spc="80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Otávio Fabbro</a:t>
            </a:r>
            <a:endParaRPr lang="pt-BR" sz="1250" dirty="0"/>
          </a:p>
        </p:txBody>
      </p:sp>
      <p:sp>
        <p:nvSpPr>
          <p:cNvPr id="22" name="Author Role"/>
          <p:cNvSpPr/>
          <p:nvPr/>
        </p:nvSpPr>
        <p:spPr>
          <a:xfrm>
            <a:off x="780190" y="5831807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BR" sz="1000" dirty="0">
                <a:solidFill>
                  <a:srgbClr val="C3CCD3"/>
                </a:solidFill>
                <a:latin typeface="Segoe UI" pitchFamily="34" charset="0"/>
                <a:cs typeface="Segoe UI" pitchFamily="34" charset="-120"/>
              </a:rPr>
              <a:t>Analista de Dados &amp; BI</a:t>
            </a:r>
            <a:endParaRPr lang="pt-BR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-55845"/>
            <a:ext cx="12191695" cy="2644877"/>
          </a:xfrm>
          <a:prstGeom prst="rect">
            <a:avLst/>
          </a:prstGeom>
          <a:solidFill>
            <a:srgbClr val="1B2A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4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 i s ã o   G e r a l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3248" y="776224"/>
            <a:ext cx="2736342" cy="1051560"/>
          </a:xfrm>
          <a:prstGeom prst="roundRect">
            <a:avLst>
              <a:gd name="adj" fmla="val 8088"/>
            </a:avLst>
          </a:prstGeom>
          <a:solidFill>
            <a:srgbClr val="FFFFFF"/>
          </a:solidFill>
          <a:ln w="12700">
            <a:solidFill>
              <a:srgbClr val="DDE2E5"/>
            </a:solidFill>
            <a:prstDash val="solid"/>
          </a:ln>
          <a:effectLst/>
        </p:spPr>
        <p:txBody>
          <a:bodyPr/>
          <a:lstStyle/>
          <a:p>
            <a:endParaRPr lang="pt-BR" dirty="0"/>
          </a:p>
        </p:txBody>
      </p:sp>
      <p:sp>
        <p:nvSpPr>
          <p:cNvPr id="6" name="Shape 4"/>
          <p:cNvSpPr/>
          <p:nvPr/>
        </p:nvSpPr>
        <p:spPr>
          <a:xfrm>
            <a:off x="2580507" y="812442"/>
            <a:ext cx="457200" cy="457200"/>
          </a:xfrm>
          <a:prstGeom prst="ellipse">
            <a:avLst/>
          </a:prstGeom>
          <a:solidFill>
            <a:srgbClr val="8073DF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9" name="Shape 7"/>
          <p:cNvSpPr/>
          <p:nvPr/>
        </p:nvSpPr>
        <p:spPr>
          <a:xfrm>
            <a:off x="3254817" y="776224"/>
            <a:ext cx="2736342" cy="1051560"/>
          </a:xfrm>
          <a:prstGeom prst="roundRect">
            <a:avLst>
              <a:gd name="adj" fmla="val 7153"/>
            </a:avLst>
          </a:prstGeom>
          <a:solidFill>
            <a:srgbClr val="FFFFFF"/>
          </a:solidFill>
          <a:ln w="12700">
            <a:solidFill>
              <a:srgbClr val="DDE2E5"/>
            </a:solidFill>
            <a:prstDash val="soli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517802" y="809394"/>
            <a:ext cx="457200" cy="457200"/>
          </a:xfrm>
          <a:prstGeom prst="ellipse">
            <a:avLst/>
          </a:prstGeom>
          <a:solidFill>
            <a:srgbClr val="7A8B9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200843" y="776519"/>
            <a:ext cx="2736342" cy="1051560"/>
          </a:xfrm>
          <a:prstGeom prst="roundRect">
            <a:avLst>
              <a:gd name="adj" fmla="val 7153"/>
            </a:avLst>
          </a:prstGeom>
          <a:solidFill>
            <a:srgbClr val="FFFFFF"/>
          </a:solidFill>
          <a:ln w="12700">
            <a:solidFill>
              <a:srgbClr val="DDE2E5"/>
            </a:solidFill>
            <a:prstDash val="solid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8437524" y="809394"/>
            <a:ext cx="457200" cy="457200"/>
          </a:xfrm>
          <a:prstGeom prst="ellipse">
            <a:avLst/>
          </a:prstGeom>
          <a:solidFill>
            <a:srgbClr val="9C66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9132570" y="777240"/>
            <a:ext cx="2736342" cy="1051560"/>
          </a:xfrm>
          <a:prstGeom prst="roundRect">
            <a:avLst>
              <a:gd name="adj" fmla="val 6218"/>
            </a:avLst>
          </a:prstGeom>
          <a:solidFill>
            <a:srgbClr val="FFFFFF"/>
          </a:solidFill>
          <a:ln w="12700">
            <a:solidFill>
              <a:srgbClr val="DDE2E5"/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11372772" y="809394"/>
            <a:ext cx="457200" cy="457200"/>
          </a:xfrm>
          <a:prstGeom prst="ellipse">
            <a:avLst/>
          </a:prstGeom>
          <a:solidFill>
            <a:srgbClr val="0E807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86814" y="1988020"/>
            <a:ext cx="7689219" cy="23244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5" name="Shape 23"/>
          <p:cNvSpPr/>
          <p:nvPr/>
        </p:nvSpPr>
        <p:spPr>
          <a:xfrm>
            <a:off x="8110727" y="1987004"/>
            <a:ext cx="3894459" cy="23254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186814" y="4453126"/>
            <a:ext cx="7722746" cy="225856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186813" y="4453128"/>
            <a:ext cx="7722746" cy="345014"/>
          </a:xfrm>
          <a:prstGeom prst="round2SameRect">
            <a:avLst/>
          </a:prstGeom>
          <a:solidFill>
            <a:srgbClr val="0E807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8166692" y="4453125"/>
            <a:ext cx="3839595" cy="2258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8165590" y="4453127"/>
            <a:ext cx="3839594" cy="345013"/>
          </a:xfrm>
          <a:prstGeom prst="round2SameRect">
            <a:avLst/>
          </a:prstGeom>
          <a:solidFill>
            <a:srgbClr val="0E807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9" name="Gráfico 58" descr="Inventário com preenchimento sólido">
            <a:extLst>
              <a:ext uri="{FF2B5EF4-FFF2-40B4-BE49-F238E27FC236}">
                <a16:creationId xmlns:a16="http://schemas.microsoft.com/office/drawing/2014/main" id="{E8437764-4BAE-DDD8-3975-31BA36AA9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1915" y="816557"/>
            <a:ext cx="388417" cy="388417"/>
          </a:xfrm>
          <a:prstGeom prst="rect">
            <a:avLst/>
          </a:prstGeom>
        </p:spPr>
      </p:pic>
      <p:pic>
        <p:nvPicPr>
          <p:cNvPr id="65" name="Gráfico 64" descr="Crescimento Comercial com preenchimento sólido">
            <a:extLst>
              <a:ext uri="{FF2B5EF4-FFF2-40B4-BE49-F238E27FC236}">
                <a16:creationId xmlns:a16="http://schemas.microsoft.com/office/drawing/2014/main" id="{26DD673F-1CAA-98EA-41D8-C33786414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9108" y="860447"/>
            <a:ext cx="344527" cy="344527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DD301172-FDD2-DC24-FB3E-121A38CDFBA5}"/>
              </a:ext>
            </a:extLst>
          </p:cNvPr>
          <p:cNvCxnSpPr>
            <a:cxnSpLocks/>
          </p:cNvCxnSpPr>
          <p:nvPr/>
        </p:nvCxnSpPr>
        <p:spPr>
          <a:xfrm>
            <a:off x="0" y="570270"/>
            <a:ext cx="1219169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hape 32">
            <a:extLst>
              <a:ext uri="{FF2B5EF4-FFF2-40B4-BE49-F238E27FC236}">
                <a16:creationId xmlns:a16="http://schemas.microsoft.com/office/drawing/2014/main" id="{CFDE1259-63A3-700C-3CEF-822DDF8394E6}"/>
              </a:ext>
            </a:extLst>
          </p:cNvPr>
          <p:cNvSpPr/>
          <p:nvPr/>
        </p:nvSpPr>
        <p:spPr>
          <a:xfrm>
            <a:off x="8101650" y="1981182"/>
            <a:ext cx="3906712" cy="337852"/>
          </a:xfrm>
          <a:prstGeom prst="round2SameRect">
            <a:avLst/>
          </a:prstGeom>
          <a:solidFill>
            <a:srgbClr val="0E807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28">
            <a:extLst>
              <a:ext uri="{FF2B5EF4-FFF2-40B4-BE49-F238E27FC236}">
                <a16:creationId xmlns:a16="http://schemas.microsoft.com/office/drawing/2014/main" id="{9DCDE9B7-C6DD-20CF-86DE-1AF94F029CC3}"/>
              </a:ext>
            </a:extLst>
          </p:cNvPr>
          <p:cNvSpPr/>
          <p:nvPr/>
        </p:nvSpPr>
        <p:spPr>
          <a:xfrm>
            <a:off x="178346" y="1978537"/>
            <a:ext cx="7709941" cy="32652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E807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Gráfico 11" descr="Dólar com preenchimento sólido">
            <a:extLst>
              <a:ext uri="{FF2B5EF4-FFF2-40B4-BE49-F238E27FC236}">
                <a16:creationId xmlns:a16="http://schemas.microsoft.com/office/drawing/2014/main" id="{5E71FBB5-74AB-6D2F-4CB4-4B6A3E6E41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17462" y="857033"/>
            <a:ext cx="383290" cy="3832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Gráfico 18" descr="Registrar com preenchimento sólido">
            <a:extLst>
              <a:ext uri="{FF2B5EF4-FFF2-40B4-BE49-F238E27FC236}">
                <a16:creationId xmlns:a16="http://schemas.microsoft.com/office/drawing/2014/main" id="{FEF15AE8-202E-05EC-8270-1EB7F40BA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5605" y="835145"/>
            <a:ext cx="381593" cy="3815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2467898"/>
          </a:xfrm>
          <a:prstGeom prst="rect">
            <a:avLst/>
          </a:prstGeom>
          <a:solidFill>
            <a:srgbClr val="1B2A33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40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 l i e n t e s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6646" y="754767"/>
            <a:ext cx="5068037" cy="5852191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88180" y="743606"/>
            <a:ext cx="5090787" cy="369085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E807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445998" y="754767"/>
            <a:ext cx="6557822" cy="2906477"/>
          </a:xfrm>
          <a:prstGeom prst="roundRect">
            <a:avLst>
              <a:gd name="adj" fmla="val 13026"/>
            </a:avLst>
          </a:prstGeom>
          <a:solidFill>
            <a:srgbClr val="FFFFFF"/>
          </a:solidFill>
          <a:ln w="12700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Shape 15"/>
          <p:cNvSpPr/>
          <p:nvPr/>
        </p:nvSpPr>
        <p:spPr>
          <a:xfrm>
            <a:off x="5431182" y="3760328"/>
            <a:ext cx="3226408" cy="2951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DC69C69F-EB56-1487-389F-50FF5455FED3}"/>
              </a:ext>
            </a:extLst>
          </p:cNvPr>
          <p:cNvCxnSpPr>
            <a:cxnSpLocks/>
          </p:cNvCxnSpPr>
          <p:nvPr/>
        </p:nvCxnSpPr>
        <p:spPr>
          <a:xfrm>
            <a:off x="0" y="570270"/>
            <a:ext cx="1219169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hape 4">
            <a:extLst>
              <a:ext uri="{FF2B5EF4-FFF2-40B4-BE49-F238E27FC236}">
                <a16:creationId xmlns:a16="http://schemas.microsoft.com/office/drawing/2014/main" id="{3B165B73-88E2-37DB-E7EA-1684776905F5}"/>
              </a:ext>
            </a:extLst>
          </p:cNvPr>
          <p:cNvSpPr/>
          <p:nvPr/>
        </p:nvSpPr>
        <p:spPr>
          <a:xfrm>
            <a:off x="5437532" y="743606"/>
            <a:ext cx="6572638" cy="369085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E807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3DA3C76C-B70F-F0F2-D252-E32AD050FE84}"/>
              </a:ext>
            </a:extLst>
          </p:cNvPr>
          <p:cNvSpPr/>
          <p:nvPr/>
        </p:nvSpPr>
        <p:spPr>
          <a:xfrm>
            <a:off x="5431181" y="3771546"/>
            <a:ext cx="3226407" cy="374956"/>
          </a:xfrm>
          <a:prstGeom prst="round2SameRect">
            <a:avLst>
              <a:gd name="adj1" fmla="val 16103"/>
              <a:gd name="adj2" fmla="val 0"/>
            </a:avLst>
          </a:prstGeom>
          <a:solidFill>
            <a:srgbClr val="0E807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A092313B-160B-E675-97A3-CF8E524E4CCB}"/>
              </a:ext>
            </a:extLst>
          </p:cNvPr>
          <p:cNvSpPr/>
          <p:nvPr/>
        </p:nvSpPr>
        <p:spPr>
          <a:xfrm>
            <a:off x="8768945" y="3760328"/>
            <a:ext cx="3226408" cy="2951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932DF2CB-7F2F-875B-4313-851E980B05A2}"/>
              </a:ext>
            </a:extLst>
          </p:cNvPr>
          <p:cNvSpPr/>
          <p:nvPr/>
        </p:nvSpPr>
        <p:spPr>
          <a:xfrm>
            <a:off x="8768944" y="3765810"/>
            <a:ext cx="3226409" cy="374956"/>
          </a:xfrm>
          <a:prstGeom prst="round2SameRect">
            <a:avLst/>
          </a:prstGeom>
          <a:solidFill>
            <a:srgbClr val="0E807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51F9F71-BF8D-82A2-5437-9EFD1DC46513}"/>
              </a:ext>
            </a:extLst>
          </p:cNvPr>
          <p:cNvSpPr/>
          <p:nvPr/>
        </p:nvSpPr>
        <p:spPr>
          <a:xfrm>
            <a:off x="2600696" y="1214294"/>
            <a:ext cx="540000" cy="540000"/>
          </a:xfrm>
          <a:prstGeom prst="ellipse">
            <a:avLst/>
          </a:prstGeom>
          <a:solidFill>
            <a:srgbClr val="D5B701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C358EDD3-A0E2-442A-5492-EB6AEF4E341E}"/>
              </a:ext>
            </a:extLst>
          </p:cNvPr>
          <p:cNvSpPr/>
          <p:nvPr/>
        </p:nvSpPr>
        <p:spPr>
          <a:xfrm>
            <a:off x="320040" y="1214294"/>
            <a:ext cx="540000" cy="540000"/>
          </a:xfrm>
          <a:prstGeom prst="ellipse">
            <a:avLst/>
          </a:prstGeom>
          <a:solidFill>
            <a:srgbClr val="8073DF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14" name="Gráfico 13" descr="Dólar com preenchimento sólido">
            <a:extLst>
              <a:ext uri="{FF2B5EF4-FFF2-40B4-BE49-F238E27FC236}">
                <a16:creationId xmlns:a16="http://schemas.microsoft.com/office/drawing/2014/main" id="{1FA6BA53-1782-59A0-311E-50B07445BC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414" y="1286294"/>
            <a:ext cx="396000" cy="396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Gráfico 9" descr="Tendência ascendente com preenchimento sólido">
            <a:extLst>
              <a:ext uri="{FF2B5EF4-FFF2-40B4-BE49-F238E27FC236}">
                <a16:creationId xmlns:a16="http://schemas.microsoft.com/office/drawing/2014/main" id="{EF94AAAF-6848-338F-4386-56AECC0288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72696" y="1286294"/>
            <a:ext cx="396000" cy="396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51</Words>
  <Application>Microsoft Office PowerPoint</Application>
  <PresentationFormat>Widescreen</PresentationFormat>
  <Paragraphs>11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Arial</vt:lpstr>
      <vt:lpstr>Calibri</vt:lpstr>
      <vt:lpstr>Segoe UI</vt:lpstr>
      <vt:lpstr>Segoe UI Light</vt:lpstr>
      <vt:lpstr>Tahoma</vt:lpstr>
      <vt:lpstr>Office Theme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Otávio Fabbro</dc:creator>
  <cp:lastModifiedBy>Otávio Fabbro</cp:lastModifiedBy>
  <cp:revision>11</cp:revision>
  <dcterms:created xsi:type="dcterms:W3CDTF">2026-08-19T18:55:46Z</dcterms:created>
  <dcterms:modified xsi:type="dcterms:W3CDTF">2026-08-20T16:02:22Z</dcterms:modified>
</cp:coreProperties>
</file>